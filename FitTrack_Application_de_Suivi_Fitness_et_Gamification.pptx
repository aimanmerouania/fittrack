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1357313" y="771609"/>
            <a:ext cx="6429375" cy="565779"/>
          </a:xfrm>
          <a:prstGeom prst="rect">
            <a:avLst/>
          </a:prstGeom>
          <a:noFill/>
          <a:ln/>
        </p:spPr>
        <p:txBody>
          <a:bodyPr wrap="none" lIns="0" tIns="0" rIns="0" bIns="0" rtlCol="0" anchor="t">
            <a:spAutoFit/>
          </a:bodyPr>
          <a:lstStyle/>
          <a:p>
            <a:pPr algn="ctr" indent="0" marL="0">
              <a:lnSpc>
                <a:spcPts val="4500"/>
              </a:lnSpc>
              <a:buNone/>
            </a:pPr>
            <a:r>
              <a:rPr lang="en-US" sz="3731" b="1" spc="-2" kern="0" dirty="0">
                <a:solidFill>
                  <a:srgbClr val="2962FF"/>
                </a:solidFill>
              </a:rPr>
              <a:t>FitTrack</a:t>
            </a:r>
            <a:endParaRPr lang="en-US" sz="3731" dirty="0"/>
          </a:p>
        </p:txBody>
      </p:sp>
      <p:sp>
        <p:nvSpPr>
          <p:cNvPr id="4" name="Text 1"/>
          <p:cNvSpPr/>
          <p:nvPr/>
        </p:nvSpPr>
        <p:spPr>
          <a:xfrm>
            <a:off x="1357313" y="1444544"/>
            <a:ext cx="6429375" cy="260021"/>
          </a:xfrm>
          <a:prstGeom prst="rect">
            <a:avLst/>
          </a:prstGeom>
          <a:noFill/>
          <a:ln/>
        </p:spPr>
        <p:txBody>
          <a:bodyPr wrap="none" lIns="0" tIns="0" rIns="0" bIns="0" rtlCol="0" anchor="t">
            <a:spAutoFit/>
          </a:bodyPr>
          <a:lstStyle/>
          <a:p>
            <a:pPr algn="ctr" indent="0" marL="0">
              <a:lnSpc>
                <a:spcPts val="2000"/>
              </a:lnSpc>
              <a:buNone/>
            </a:pPr>
            <a:r>
              <a:rPr lang="en-US" sz="1397" b="1" dirty="0">
                <a:solidFill>
                  <a:srgbClr val="F4F4F6"/>
                </a:solidFill>
              </a:rPr>
              <a:t>Application de Suivi Fitness et Gamification</a:t>
            </a:r>
            <a:endParaRPr lang="en-US" sz="1397" dirty="0"/>
          </a:p>
        </p:txBody>
      </p:sp>
      <p:sp>
        <p:nvSpPr>
          <p:cNvPr id="5" name="Shape 2"/>
          <p:cNvSpPr/>
          <p:nvPr/>
        </p:nvSpPr>
        <p:spPr>
          <a:xfrm>
            <a:off x="1357313" y="2233203"/>
            <a:ext cx="6429375" cy="2074366"/>
          </a:xfrm>
          <a:prstGeom prst="rect">
            <a:avLst/>
          </a:prstGeom>
          <a:solidFill>
            <a:srgbClr val="2962FF">
              <a:alpha val="5000"/>
            </a:srgbClr>
          </a:solidFill>
          <a:ln/>
        </p:spPr>
      </p:sp>
      <p:sp>
        <p:nvSpPr>
          <p:cNvPr id="6" name="Shape 3"/>
          <p:cNvSpPr/>
          <p:nvPr/>
        </p:nvSpPr>
        <p:spPr>
          <a:xfrm>
            <a:off x="1357313" y="2233203"/>
            <a:ext cx="28575" cy="2074366"/>
          </a:xfrm>
          <a:prstGeom prst="rect">
            <a:avLst/>
          </a:prstGeom>
          <a:solidFill>
            <a:srgbClr val="FF5E00"/>
          </a:solidFill>
          <a:ln/>
        </p:spPr>
      </p:sp>
      <p:sp>
        <p:nvSpPr>
          <p:cNvPr id="7" name="Text 4"/>
          <p:cNvSpPr/>
          <p:nvPr/>
        </p:nvSpPr>
        <p:spPr>
          <a:xfrm>
            <a:off x="1357313" y="2233203"/>
            <a:ext cx="6429375" cy="2074366"/>
          </a:xfrm>
          <a:prstGeom prst="rect">
            <a:avLst/>
          </a:prstGeom>
          <a:noFill/>
          <a:ln/>
        </p:spPr>
        <p:txBody>
          <a:bodyPr wrap="square" lIns="255143" tIns="255143" rIns="255143" bIns="255143" rtlCol="0" anchor="t">
            <a:spAutoFit/>
          </a:bodyPr>
          <a:lstStyle/>
          <a:p>
            <a:pPr algn="just" indent="0" marL="0">
              <a:lnSpc>
                <a:spcPts val="1600"/>
              </a:lnSpc>
              <a:buNone/>
            </a:pPr>
            <a:r>
              <a:rPr lang="en-US" sz="834" dirty="0">
                <a:solidFill>
                  <a:srgbClr val="B0B0B0"/>
                </a:solidFill>
              </a:rPr>
              <a:t>Le marché des applications de fitness est saturé de solutions de suivi, mais beaucoup souffrent de deux défauts majeurs : une complexité excessive pour le pratiquant moyen, ou un manque d'engagement à long terme. La musculation et le fitness sont des disciplines qui demandent de la régularité. Or, la perte de motivation est la cause principale d'abandon après les premiers mois. C'est dans ce contexte que s'inscrit le projet FitTrack. L'idée n'est pas seulement de fournir un carnet d'entraînement numérique, mais de transformer l'expérience sportive en un jeu (Gamification) pour maximiser la rétention et le plaisir de l'utilisateur. FitTrack est développée avec le framework Flutter, choisie pour sa capacité à produire des interfaces natives fluides sur Android et iOS à partir d'une base de code unique.</a:t>
            </a:r>
            <a:endParaRPr lang="en-US" sz="834" dirty="0"/>
          </a:p>
        </p:txBody>
      </p:sp>
      <p:sp>
        <p:nvSpPr>
          <p:cNvPr id="8" name="Text 5"/>
          <p:cNvSpPr/>
          <p:nvPr/>
        </p:nvSpPr>
        <p:spPr>
          <a:xfrm>
            <a:off x="1357313" y="4664757"/>
            <a:ext cx="6429375" cy="135731"/>
          </a:xfrm>
          <a:prstGeom prst="rect">
            <a:avLst/>
          </a:prstGeom>
          <a:noFill/>
          <a:ln/>
        </p:spPr>
        <p:txBody>
          <a:bodyPr wrap="none" lIns="0" tIns="0" rIns="0" bIns="0" rtlCol="0" anchor="t">
            <a:spAutoFit/>
          </a:bodyPr>
          <a:lstStyle/>
          <a:p>
            <a:pPr algn="ctr" indent="0" marL="0">
              <a:lnSpc>
                <a:spcPts val="900"/>
              </a:lnSpc>
              <a:buNone/>
            </a:pPr>
            <a:r>
              <a:rPr lang="en-US" sz="727" spc="1" kern="0" dirty="0">
                <a:solidFill>
                  <a:srgbClr val="FF5E00"/>
                </a:solidFill>
              </a:rPr>
              <a:t>Rapport de Projet Mobile • Flutter &amp; Dart</a:t>
            </a:r>
            <a:endParaRPr lang="en-US" sz="727"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428625"/>
            <a:ext cx="8001000" cy="466130"/>
          </a:xfrm>
          <a:prstGeom prst="rect">
            <a:avLst/>
          </a:prstGeom>
          <a:noFill/>
          <a:ln/>
        </p:spPr>
        <p:txBody>
          <a:bodyPr wrap="none" lIns="0" tIns="0" rIns="0" bIns="0" rtlCol="0" anchor="t">
            <a:spAutoFit/>
          </a:bodyPr>
          <a:lstStyle/>
          <a:p>
            <a:pPr algn="l" indent="0" marL="0">
              <a:lnSpc>
                <a:spcPts val="3200"/>
              </a:lnSpc>
              <a:buNone/>
            </a:pPr>
            <a:r>
              <a:rPr lang="en-US" sz="2436" b="1" dirty="0">
                <a:solidFill>
                  <a:srgbClr val="2962FF"/>
                </a:solidFill>
              </a:rPr>
              <a:t>Objectif du Projet</a:t>
            </a:r>
            <a:endParaRPr lang="en-US" sz="2436" dirty="0"/>
          </a:p>
        </p:txBody>
      </p:sp>
      <p:sp>
        <p:nvSpPr>
          <p:cNvPr id="4" name="Text 1"/>
          <p:cNvSpPr/>
          <p:nvPr/>
        </p:nvSpPr>
        <p:spPr>
          <a:xfrm>
            <a:off x="571500" y="966192"/>
            <a:ext cx="8001000" cy="175022"/>
          </a:xfrm>
          <a:prstGeom prst="rect">
            <a:avLst/>
          </a:prstGeom>
          <a:noFill/>
          <a:ln/>
        </p:spPr>
        <p:txBody>
          <a:bodyPr wrap="none" lIns="0" tIns="0" rIns="0" bIns="0" rtlCol="0" anchor="t">
            <a:spAutoFit/>
          </a:bodyPr>
          <a:lstStyle/>
          <a:p>
            <a:pPr algn="l" indent="0" marL="0">
              <a:lnSpc>
                <a:spcPts val="1200"/>
              </a:lnSpc>
              <a:buNone/>
            </a:pPr>
            <a:r>
              <a:rPr lang="en-US" sz="885" b="1" spc="1" kern="0" dirty="0">
                <a:solidFill>
                  <a:srgbClr val="FF5E00"/>
                </a:solidFill>
              </a:rPr>
              <a:t>Concevoir une Application Performante et Engageante</a:t>
            </a:r>
            <a:endParaRPr lang="en-US" sz="885" dirty="0"/>
          </a:p>
        </p:txBody>
      </p:sp>
      <p:sp>
        <p:nvSpPr>
          <p:cNvPr id="5" name="Text 2"/>
          <p:cNvSpPr/>
          <p:nvPr/>
        </p:nvSpPr>
        <p:spPr>
          <a:xfrm>
            <a:off x="571500" y="1569839"/>
            <a:ext cx="2524116" cy="342900"/>
          </a:xfrm>
          <a:prstGeom prst="rect">
            <a:avLst/>
          </a:prstGeom>
          <a:noFill/>
          <a:ln/>
        </p:spPr>
        <p:txBody>
          <a:bodyPr wrap="none" lIns="0" tIns="0" rIns="0" bIns="0" rtlCol="0" anchor="t">
            <a:spAutoFit/>
          </a:bodyPr>
          <a:lstStyle/>
          <a:p>
            <a:pPr algn="l" indent="0" marL="0">
              <a:lnSpc>
                <a:spcPts val="2700"/>
              </a:lnSpc>
              <a:buNone/>
            </a:pPr>
            <a:r>
              <a:rPr lang="en-US" sz="2436" b="1" dirty="0">
                <a:solidFill>
                  <a:srgbClr val="FF5E00"/>
                </a:solidFill>
              </a:rPr>
              <a:t>01</a:t>
            </a:r>
            <a:endParaRPr lang="en-US" sz="2436" dirty="0"/>
          </a:p>
        </p:txBody>
      </p:sp>
      <p:sp>
        <p:nvSpPr>
          <p:cNvPr id="6" name="Text 3"/>
          <p:cNvSpPr/>
          <p:nvPr/>
        </p:nvSpPr>
        <p:spPr>
          <a:xfrm>
            <a:off x="571500" y="2019895"/>
            <a:ext cx="2524116" cy="188584"/>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F4F4F6"/>
                </a:solidFill>
              </a:rPr>
              <a:t>Personnalisation</a:t>
            </a:r>
            <a:endParaRPr lang="en-US" sz="1090" dirty="0"/>
          </a:p>
        </p:txBody>
      </p:sp>
      <p:sp>
        <p:nvSpPr>
          <p:cNvPr id="7" name="Text 4"/>
          <p:cNvSpPr/>
          <p:nvPr/>
        </p:nvSpPr>
        <p:spPr>
          <a:xfrm>
            <a:off x="571500" y="2315635"/>
            <a:ext cx="2524116" cy="514350"/>
          </a:xfrm>
          <a:prstGeom prst="rect">
            <a:avLst/>
          </a:prstGeom>
          <a:noFill/>
          <a:ln/>
        </p:spPr>
        <p:txBody>
          <a:bodyPr wrap="square" lIns="0" tIns="0" rIns="0" bIns="0" rtlCol="0" anchor="t">
            <a:spAutoFit/>
          </a:bodyPr>
          <a:lstStyle/>
          <a:p>
            <a:pPr algn="l" indent="0" marL="0">
              <a:lnSpc>
                <a:spcPts val="1400"/>
              </a:lnSpc>
              <a:buNone/>
            </a:pPr>
            <a:r>
              <a:rPr lang="en-US" sz="780" dirty="0">
                <a:solidFill>
                  <a:srgbClr val="B0B0B0"/>
                </a:solidFill>
              </a:rPr>
              <a:t>Permettre la création et la personnalisation de programmes d'entraînement complexes adaptés à chaque utilisateur.</a:t>
            </a:r>
            <a:endParaRPr lang="en-US" sz="780" dirty="0"/>
          </a:p>
        </p:txBody>
      </p:sp>
      <p:sp>
        <p:nvSpPr>
          <p:cNvPr id="8" name="Text 5"/>
          <p:cNvSpPr/>
          <p:nvPr/>
        </p:nvSpPr>
        <p:spPr>
          <a:xfrm>
            <a:off x="3309928" y="1569839"/>
            <a:ext cx="2524116" cy="342900"/>
          </a:xfrm>
          <a:prstGeom prst="rect">
            <a:avLst/>
          </a:prstGeom>
          <a:noFill/>
          <a:ln/>
        </p:spPr>
        <p:txBody>
          <a:bodyPr wrap="none" lIns="0" tIns="0" rIns="0" bIns="0" rtlCol="0" anchor="t">
            <a:spAutoFit/>
          </a:bodyPr>
          <a:lstStyle/>
          <a:p>
            <a:pPr algn="l" indent="0" marL="0">
              <a:lnSpc>
                <a:spcPts val="2700"/>
              </a:lnSpc>
              <a:buNone/>
            </a:pPr>
            <a:r>
              <a:rPr lang="en-US" sz="2436" b="1" dirty="0">
                <a:solidFill>
                  <a:srgbClr val="FF5E00"/>
                </a:solidFill>
              </a:rPr>
              <a:t>02</a:t>
            </a:r>
            <a:endParaRPr lang="en-US" sz="2436" dirty="0"/>
          </a:p>
        </p:txBody>
      </p:sp>
      <p:sp>
        <p:nvSpPr>
          <p:cNvPr id="9" name="Text 6"/>
          <p:cNvSpPr/>
          <p:nvPr/>
        </p:nvSpPr>
        <p:spPr>
          <a:xfrm>
            <a:off x="3309928" y="2019895"/>
            <a:ext cx="2524116" cy="188584"/>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F4F4F6"/>
                </a:solidFill>
              </a:rPr>
              <a:t>Suivi en Temps Réel</a:t>
            </a:r>
            <a:endParaRPr lang="en-US" sz="1090" dirty="0"/>
          </a:p>
        </p:txBody>
      </p:sp>
      <p:sp>
        <p:nvSpPr>
          <p:cNvPr id="10" name="Text 7"/>
          <p:cNvSpPr/>
          <p:nvPr/>
        </p:nvSpPr>
        <p:spPr>
          <a:xfrm>
            <a:off x="3309928" y="2315635"/>
            <a:ext cx="2524116" cy="514350"/>
          </a:xfrm>
          <a:prstGeom prst="rect">
            <a:avLst/>
          </a:prstGeom>
          <a:noFill/>
          <a:ln/>
        </p:spPr>
        <p:txBody>
          <a:bodyPr wrap="square" lIns="0" tIns="0" rIns="0" bIns="0" rtlCol="0" anchor="t">
            <a:spAutoFit/>
          </a:bodyPr>
          <a:lstStyle/>
          <a:p>
            <a:pPr algn="l" indent="0" marL="0">
              <a:lnSpc>
                <a:spcPts val="1400"/>
              </a:lnSpc>
              <a:buNone/>
            </a:pPr>
            <a:r>
              <a:rPr lang="en-US" sz="780" dirty="0">
                <a:solidFill>
                  <a:srgbClr val="B0B0B0"/>
                </a:solidFill>
              </a:rPr>
              <a:t>Offrir un suivi des séances sans friction technique avec chronomètre global et minuteur de repos indépendant.</a:t>
            </a:r>
            <a:endParaRPr lang="en-US" sz="780" dirty="0"/>
          </a:p>
        </p:txBody>
      </p:sp>
      <p:sp>
        <p:nvSpPr>
          <p:cNvPr id="11" name="Text 8"/>
          <p:cNvSpPr/>
          <p:nvPr/>
        </p:nvSpPr>
        <p:spPr>
          <a:xfrm>
            <a:off x="6048356" y="1569839"/>
            <a:ext cx="2524144" cy="342900"/>
          </a:xfrm>
          <a:prstGeom prst="rect">
            <a:avLst/>
          </a:prstGeom>
          <a:noFill/>
          <a:ln/>
        </p:spPr>
        <p:txBody>
          <a:bodyPr wrap="none" lIns="0" tIns="0" rIns="0" bIns="0" rtlCol="0" anchor="t">
            <a:spAutoFit/>
          </a:bodyPr>
          <a:lstStyle/>
          <a:p>
            <a:pPr algn="l" indent="0" marL="0">
              <a:lnSpc>
                <a:spcPts val="2700"/>
              </a:lnSpc>
              <a:buNone/>
            </a:pPr>
            <a:r>
              <a:rPr lang="en-US" sz="2436" b="1" dirty="0">
                <a:solidFill>
                  <a:srgbClr val="FF5E00"/>
                </a:solidFill>
              </a:rPr>
              <a:t>03</a:t>
            </a:r>
            <a:endParaRPr lang="en-US" sz="2436" dirty="0"/>
          </a:p>
        </p:txBody>
      </p:sp>
      <p:sp>
        <p:nvSpPr>
          <p:cNvPr id="12" name="Text 9"/>
          <p:cNvSpPr/>
          <p:nvPr/>
        </p:nvSpPr>
        <p:spPr>
          <a:xfrm>
            <a:off x="6048356" y="2019895"/>
            <a:ext cx="2524144" cy="188584"/>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F4F4F6"/>
                </a:solidFill>
              </a:rPr>
              <a:t>Gamification RPG</a:t>
            </a:r>
            <a:endParaRPr lang="en-US" sz="1090" dirty="0"/>
          </a:p>
        </p:txBody>
      </p:sp>
      <p:sp>
        <p:nvSpPr>
          <p:cNvPr id="13" name="Text 10"/>
          <p:cNvSpPr/>
          <p:nvPr/>
        </p:nvSpPr>
        <p:spPr>
          <a:xfrm>
            <a:off x="6048356" y="2315635"/>
            <a:ext cx="2524144" cy="514350"/>
          </a:xfrm>
          <a:prstGeom prst="rect">
            <a:avLst/>
          </a:prstGeom>
          <a:noFill/>
          <a:ln/>
        </p:spPr>
        <p:txBody>
          <a:bodyPr wrap="square" lIns="0" tIns="0" rIns="0" bIns="0" rtlCol="0" anchor="t">
            <a:spAutoFit/>
          </a:bodyPr>
          <a:lstStyle/>
          <a:p>
            <a:pPr algn="l" indent="0" marL="0">
              <a:lnSpc>
                <a:spcPts val="1400"/>
              </a:lnSpc>
              <a:buNone/>
            </a:pPr>
            <a:r>
              <a:rPr lang="en-US" sz="780" dirty="0">
                <a:solidFill>
                  <a:srgbClr val="B0B0B0"/>
                </a:solidFill>
              </a:rPr>
              <a:t>Mettre en place un système de récompenses (Niveaux, XP, Titres) pour visualiser la progression de manière gratifiante.</a:t>
            </a:r>
            <a:endParaRPr lang="en-US" sz="7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1114425" y="1785938"/>
            <a:ext cx="2000250" cy="857250"/>
          </a:xfrm>
          <a:prstGeom prst="rect">
            <a:avLst/>
          </a:prstGeom>
          <a:solidFill>
            <a:srgbClr val="2962FF">
              <a:alpha val="8000"/>
            </a:srgbClr>
          </a:solidFill>
          <a:ln/>
        </p:spPr>
      </p:sp>
      <p:sp>
        <p:nvSpPr>
          <p:cNvPr id="4" name="Shape 1"/>
          <p:cNvSpPr/>
          <p:nvPr/>
        </p:nvSpPr>
        <p:spPr>
          <a:xfrm>
            <a:off x="1114425" y="1785938"/>
            <a:ext cx="28575" cy="857250"/>
          </a:xfrm>
          <a:prstGeom prst="rect">
            <a:avLst/>
          </a:prstGeom>
          <a:solidFill>
            <a:srgbClr val="2962FF"/>
          </a:solidFill>
          <a:ln/>
        </p:spPr>
      </p:sp>
      <p:pic>
        <p:nvPicPr>
          <p:cNvPr id="5" name="Image 1" descr="preencoded.png">    </p:cNvPr>
          <p:cNvPicPr>
            <a:picLocks noChangeAspect="1"/>
          </p:cNvPicPr>
          <p:nvPr/>
        </p:nvPicPr>
        <p:blipFill>
          <a:blip r:embed="rId2"/>
          <a:stretch>
            <a:fillRect/>
          </a:stretch>
        </p:blipFill>
        <p:spPr>
          <a:xfrm>
            <a:off x="1257300" y="1928813"/>
            <a:ext cx="1714500" cy="571500"/>
          </a:xfrm>
          <a:prstGeom prst="rect">
            <a:avLst/>
          </a:prstGeom>
        </p:spPr>
      </p:pic>
      <p:sp>
        <p:nvSpPr>
          <p:cNvPr id="6" name="Shape 2"/>
          <p:cNvSpPr/>
          <p:nvPr/>
        </p:nvSpPr>
        <p:spPr>
          <a:xfrm>
            <a:off x="1114425" y="2928938"/>
            <a:ext cx="2000250" cy="857250"/>
          </a:xfrm>
          <a:prstGeom prst="rect">
            <a:avLst/>
          </a:prstGeom>
          <a:solidFill>
            <a:srgbClr val="2962FF">
              <a:alpha val="8000"/>
            </a:srgbClr>
          </a:solidFill>
          <a:ln/>
        </p:spPr>
      </p:sp>
      <p:sp>
        <p:nvSpPr>
          <p:cNvPr id="7" name="Shape 3"/>
          <p:cNvSpPr/>
          <p:nvPr/>
        </p:nvSpPr>
        <p:spPr>
          <a:xfrm>
            <a:off x="1114425" y="2928938"/>
            <a:ext cx="28575" cy="857250"/>
          </a:xfrm>
          <a:prstGeom prst="rect">
            <a:avLst/>
          </a:prstGeom>
          <a:solidFill>
            <a:srgbClr val="2962FF"/>
          </a:solidFill>
          <a:ln/>
        </p:spPr>
      </p:sp>
      <p:pic>
        <p:nvPicPr>
          <p:cNvPr id="8" name="Image 2" descr="preencoded.png">    </p:cNvPr>
          <p:cNvPicPr>
            <a:picLocks noChangeAspect="1"/>
          </p:cNvPicPr>
          <p:nvPr/>
        </p:nvPicPr>
        <p:blipFill>
          <a:blip r:embed="rId3"/>
          <a:stretch>
            <a:fillRect/>
          </a:stretch>
        </p:blipFill>
        <p:spPr>
          <a:xfrm>
            <a:off x="1257300" y="3071813"/>
            <a:ext cx="1714500" cy="571500"/>
          </a:xfrm>
          <a:prstGeom prst="rect">
            <a:avLst/>
          </a:prstGeom>
        </p:spPr>
      </p:pic>
      <p:sp>
        <p:nvSpPr>
          <p:cNvPr id="9" name="Text 4"/>
          <p:cNvSpPr/>
          <p:nvPr/>
        </p:nvSpPr>
        <p:spPr>
          <a:xfrm>
            <a:off x="3943350" y="1215721"/>
            <a:ext cx="4629150" cy="428625"/>
          </a:xfrm>
          <a:prstGeom prst="rect">
            <a:avLst/>
          </a:prstGeom>
          <a:noFill/>
          <a:ln/>
        </p:spPr>
        <p:txBody>
          <a:bodyPr wrap="none" lIns="0" tIns="0" rIns="0" bIns="0" rtlCol="0" anchor="t">
            <a:spAutoFit/>
          </a:bodyPr>
          <a:lstStyle/>
          <a:p>
            <a:pPr algn="l" indent="0" marL="0">
              <a:lnSpc>
                <a:spcPts val="3000"/>
              </a:lnSpc>
              <a:buNone/>
            </a:pPr>
            <a:r>
              <a:rPr lang="en-US" sz="2226" b="1" dirty="0">
                <a:solidFill>
                  <a:srgbClr val="2962FF"/>
                </a:solidFill>
              </a:rPr>
              <a:t>Choix Technologiques</a:t>
            </a:r>
            <a:endParaRPr lang="en-US" sz="2226" dirty="0"/>
          </a:p>
        </p:txBody>
      </p:sp>
      <p:sp>
        <p:nvSpPr>
          <p:cNvPr id="10" name="Text 5"/>
          <p:cNvSpPr/>
          <p:nvPr/>
        </p:nvSpPr>
        <p:spPr>
          <a:xfrm>
            <a:off x="3943350" y="1715784"/>
            <a:ext cx="4629150" cy="155377"/>
          </a:xfrm>
          <a:prstGeom prst="rect">
            <a:avLst/>
          </a:prstGeom>
          <a:noFill/>
          <a:ln/>
        </p:spPr>
        <p:txBody>
          <a:bodyPr wrap="none" lIns="0" tIns="0" rIns="0" bIns="0" rtlCol="0" anchor="t">
            <a:spAutoFit/>
          </a:bodyPr>
          <a:lstStyle/>
          <a:p>
            <a:pPr algn="l" indent="0" marL="0">
              <a:lnSpc>
                <a:spcPts val="1100"/>
              </a:lnSpc>
              <a:buNone/>
            </a:pPr>
            <a:r>
              <a:rPr lang="en-US" sz="784" b="1" spc="1" kern="0" dirty="0">
                <a:solidFill>
                  <a:srgbClr val="FF5E00"/>
                </a:solidFill>
              </a:rPr>
              <a:t>Flutter, Clean Architecture et Pattern BLoC</a:t>
            </a:r>
            <a:endParaRPr lang="en-US" sz="784" dirty="0"/>
          </a:p>
        </p:txBody>
      </p:sp>
      <p:sp>
        <p:nvSpPr>
          <p:cNvPr id="11" name="Text 6"/>
          <p:cNvSpPr/>
          <p:nvPr/>
        </p:nvSpPr>
        <p:spPr>
          <a:xfrm>
            <a:off x="3943350" y="2228348"/>
            <a:ext cx="4629150"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F5E00"/>
                </a:solidFill>
              </a:rPr>
              <a:t>Framework : Flutter &amp; Dart</a:t>
            </a:r>
            <a:endParaRPr lang="en-US" sz="885" dirty="0"/>
          </a:p>
        </p:txBody>
      </p:sp>
      <p:sp>
        <p:nvSpPr>
          <p:cNvPr id="12" name="Text 7"/>
          <p:cNvSpPr/>
          <p:nvPr/>
        </p:nvSpPr>
        <p:spPr>
          <a:xfrm>
            <a:off x="3943350" y="2474807"/>
            <a:ext cx="4629150" cy="320018"/>
          </a:xfrm>
          <a:prstGeom prst="rect">
            <a:avLst/>
          </a:prstGeom>
          <a:noFill/>
          <a:ln/>
        </p:spPr>
        <p:txBody>
          <a:bodyPr wrap="square" lIns="127508" tIns="0" rIns="0" bIns="0" rtlCol="0" anchor="t">
            <a:spAutoFit/>
          </a:bodyPr>
          <a:lstStyle/>
          <a:p>
            <a:pPr algn="l" indent="0" marL="0">
              <a:lnSpc>
                <a:spcPts val="1300"/>
              </a:lnSpc>
              <a:buNone/>
            </a:pPr>
            <a:r>
              <a:rPr lang="en-US" sz="727" dirty="0">
                <a:solidFill>
                  <a:srgbClr val="B0B0B0"/>
                </a:solidFill>
              </a:rPr>
              <a:t>Performance native (60/120 FPS) grâce au moteur Skia. Cycle de développement accéléré par Hot Reload. Base de code unique pour iOS et Android.</a:t>
            </a:r>
            <a:endParaRPr lang="en-US" sz="727" dirty="0"/>
          </a:p>
        </p:txBody>
      </p:sp>
      <p:sp>
        <p:nvSpPr>
          <p:cNvPr id="13" name="Text 8"/>
          <p:cNvSpPr/>
          <p:nvPr/>
        </p:nvSpPr>
        <p:spPr>
          <a:xfrm>
            <a:off x="3943350" y="3009137"/>
            <a:ext cx="4629150"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F5E00"/>
                </a:solidFill>
              </a:rPr>
              <a:t>Architecture : Clean Architecture</a:t>
            </a:r>
            <a:endParaRPr lang="en-US" sz="885" dirty="0"/>
          </a:p>
        </p:txBody>
      </p:sp>
      <p:sp>
        <p:nvSpPr>
          <p:cNvPr id="14" name="Text 9"/>
          <p:cNvSpPr/>
          <p:nvPr/>
        </p:nvSpPr>
        <p:spPr>
          <a:xfrm>
            <a:off x="3943350" y="3255597"/>
            <a:ext cx="4629150" cy="320018"/>
          </a:xfrm>
          <a:prstGeom prst="rect">
            <a:avLst/>
          </a:prstGeom>
          <a:noFill/>
          <a:ln/>
        </p:spPr>
        <p:txBody>
          <a:bodyPr wrap="square" lIns="127508" tIns="0" rIns="0" bIns="0" rtlCol="0" anchor="t">
            <a:spAutoFit/>
          </a:bodyPr>
          <a:lstStyle/>
          <a:p>
            <a:pPr algn="l" indent="0" marL="0">
              <a:lnSpc>
                <a:spcPts val="1300"/>
              </a:lnSpc>
              <a:buNone/>
            </a:pPr>
            <a:r>
              <a:rPr lang="en-US" sz="727" dirty="0">
                <a:solidFill>
                  <a:srgbClr val="B0B0B0"/>
                </a:solidFill>
              </a:rPr>
              <a:t>Trois couches (Domain, Data, Presentation) assurant la solidité, la maintenabilité et la testabilité du code. Séparation stricte des responsabilités.</a:t>
            </a:r>
            <a:endParaRPr lang="en-US" sz="727" dirty="0"/>
          </a:p>
        </p:txBody>
      </p:sp>
      <p:sp>
        <p:nvSpPr>
          <p:cNvPr id="15" name="Text 10"/>
          <p:cNvSpPr/>
          <p:nvPr/>
        </p:nvSpPr>
        <p:spPr>
          <a:xfrm>
            <a:off x="3943350" y="3789927"/>
            <a:ext cx="4629150"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F5E00"/>
                </a:solidFill>
              </a:rPr>
              <a:t>Gestion d'État : Pattern BLoC</a:t>
            </a:r>
            <a:endParaRPr lang="en-US" sz="885" dirty="0"/>
          </a:p>
        </p:txBody>
      </p:sp>
      <p:sp>
        <p:nvSpPr>
          <p:cNvPr id="16" name="Text 11"/>
          <p:cNvSpPr/>
          <p:nvPr/>
        </p:nvSpPr>
        <p:spPr>
          <a:xfrm>
            <a:off x="3943350" y="4036386"/>
            <a:ext cx="4629150" cy="320018"/>
          </a:xfrm>
          <a:prstGeom prst="rect">
            <a:avLst/>
          </a:prstGeom>
          <a:noFill/>
          <a:ln/>
        </p:spPr>
        <p:txBody>
          <a:bodyPr wrap="square" lIns="127508" tIns="0" rIns="0" bIns="0" rtlCol="0" anchor="t">
            <a:spAutoFit/>
          </a:bodyPr>
          <a:lstStyle/>
          <a:p>
            <a:pPr algn="l" indent="0" marL="0">
              <a:lnSpc>
                <a:spcPts val="1300"/>
              </a:lnSpc>
              <a:buNone/>
            </a:pPr>
            <a:r>
              <a:rPr lang="en-US" sz="727" dirty="0">
                <a:solidFill>
                  <a:srgbClr val="B0B0B0"/>
                </a:solidFill>
              </a:rPr>
              <a:t>Business Logic Component via flutter_bloc. Séparation stricte de la logique métier (Events/States) et de l'interface utilisateur.</a:t>
            </a:r>
            <a:endParaRPr lang="en-US" sz="727"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132589" y="2101977"/>
            <a:ext cx="8001000" cy="685800"/>
          </a:xfrm>
          <a:prstGeom prst="rect">
            <a:avLst/>
          </a:prstGeom>
          <a:noFill/>
          <a:ln/>
        </p:spPr>
        <p:txBody>
          <a:bodyPr wrap="square" lIns="0" tIns="0" rIns="0" bIns="0" rtlCol="0" anchor="t">
            <a:spAutoFit/>
          </a:bodyPr>
          <a:lstStyle/>
          <a:p>
            <a:pPr algn="l" indent="0" marL="0">
              <a:lnSpc>
                <a:spcPts val="2700"/>
              </a:lnSpc>
              <a:buNone/>
            </a:pPr>
            <a:r>
              <a:rPr lang="en-US" sz="2016" b="1" dirty="0">
                <a:solidFill>
                  <a:srgbClr val="2962FF"/>
                </a:solidFill>
              </a:rPr>
              <a:t>Démonstration</a:t>
            </a:r>
            <a:pPr algn="l" indent="0" marL="0">
              <a:lnSpc>
                <a:spcPts val="2700"/>
              </a:lnSpc>
              <a:buNone/>
            </a:pPr>
            <a:r>
              <a:rPr lang="en-US" sz="2016" b="1" dirty="0">
                <a:solidFill>
                  <a:srgbClr val="2962FF"/>
                </a:solidFill>
              </a:rPr>
              <a:t>
</a:t>
            </a:r>
            <a:pPr algn="l" indent="0" marL="0">
              <a:lnSpc>
                <a:spcPts val="2700"/>
              </a:lnSpc>
              <a:buNone/>
            </a:pPr>
            <a:r>
              <a:rPr lang="en-US" sz="2016" b="1" dirty="0">
                <a:solidFill>
                  <a:srgbClr val="2962FF"/>
                </a:solidFill>
              </a:rPr>
              <a:t>L'Expérience Utilisateur</a:t>
            </a:r>
            <a:endParaRPr lang="en-US" sz="2016" dirty="0"/>
          </a:p>
        </p:txBody>
      </p:sp>
      <p:sp>
        <p:nvSpPr>
          <p:cNvPr id="4" name="Text 1"/>
          <p:cNvSpPr/>
          <p:nvPr/>
        </p:nvSpPr>
        <p:spPr>
          <a:xfrm>
            <a:off x="114300" y="2786062"/>
            <a:ext cx="8001000" cy="155377"/>
          </a:xfrm>
          <a:prstGeom prst="rect">
            <a:avLst/>
          </a:prstGeom>
          <a:noFill/>
          <a:ln/>
        </p:spPr>
        <p:txBody>
          <a:bodyPr wrap="none" lIns="0" tIns="0" rIns="0" bIns="0" rtlCol="0" anchor="t">
            <a:spAutoFit/>
          </a:bodyPr>
          <a:lstStyle/>
          <a:p>
            <a:pPr algn="l" indent="0" marL="0">
              <a:lnSpc>
                <a:spcPts val="1100"/>
              </a:lnSpc>
              <a:buNone/>
            </a:pPr>
            <a:r>
              <a:rPr lang="en-US" sz="784" b="1" spc="1" kern="0" dirty="0">
                <a:solidFill>
                  <a:srgbClr val="FF5E00"/>
                </a:solidFill>
              </a:rPr>
              <a:t>L'Expérience Utilisateur et la Gamification</a:t>
            </a:r>
            <a:endParaRPr lang="en-US" sz="784" dirty="0"/>
          </a:p>
        </p:txBody>
      </p:sp>
      <p:sp>
        <p:nvSpPr>
          <p:cNvPr id="5" name="Text 2"/>
          <p:cNvSpPr/>
          <p:nvPr/>
        </p:nvSpPr>
        <p:spPr>
          <a:xfrm>
            <a:off x="571500" y="1626989"/>
            <a:ext cx="8001000" cy="3516511"/>
          </a:xfrm>
          <a:prstGeom prst="rect">
            <a:avLst/>
          </a:prstGeom>
          <a:noFill/>
          <a:ln/>
        </p:spPr>
        <p:txBody>
          <a:bodyPr wrap="square" lIns="0" tIns="0" rIns="0" bIns="0" rtlCol="0" anchor="t">
            <a:spAutoFit/>
          </a:bodyPr>
          <a:lstStyle/>
          <a:p>
            <a:pPr algn="l" indent="0" marL="0">
              <a:lnSpc>
                <a:spcPts val="1100"/>
              </a:lnSpc>
              <a:buNone/>
            </a:pPr>
            <a:endParaRPr lang="en-US" sz="834"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1357313" y="807690"/>
            <a:ext cx="6429375" cy="440038"/>
          </a:xfrm>
          <a:prstGeom prst="rect">
            <a:avLst/>
          </a:prstGeom>
          <a:noFill/>
          <a:ln/>
        </p:spPr>
        <p:txBody>
          <a:bodyPr wrap="none" lIns="0" tIns="0" rIns="0" bIns="0" rtlCol="0" anchor="t">
            <a:spAutoFit/>
          </a:bodyPr>
          <a:lstStyle/>
          <a:p>
            <a:pPr algn="ctr" indent="0" marL="0">
              <a:lnSpc>
                <a:spcPts val="3500"/>
              </a:lnSpc>
              <a:buNone/>
            </a:pPr>
            <a:r>
              <a:rPr lang="en-US" sz="2862" b="1" spc="-1" kern="0" dirty="0">
                <a:solidFill>
                  <a:srgbClr val="2962FF"/>
                </a:solidFill>
              </a:rPr>
              <a:t>Conclusion</a:t>
            </a:r>
            <a:endParaRPr lang="en-US" sz="2862" dirty="0"/>
          </a:p>
        </p:txBody>
      </p:sp>
      <p:sp>
        <p:nvSpPr>
          <p:cNvPr id="4" name="Text 1"/>
          <p:cNvSpPr/>
          <p:nvPr/>
        </p:nvSpPr>
        <p:spPr>
          <a:xfrm>
            <a:off x="1357313" y="1354885"/>
            <a:ext cx="6429375" cy="175022"/>
          </a:xfrm>
          <a:prstGeom prst="rect">
            <a:avLst/>
          </a:prstGeom>
          <a:noFill/>
          <a:ln/>
        </p:spPr>
        <p:txBody>
          <a:bodyPr wrap="none" lIns="0" tIns="0" rIns="0" bIns="0" rtlCol="0" anchor="t">
            <a:spAutoFit/>
          </a:bodyPr>
          <a:lstStyle/>
          <a:p>
            <a:pPr algn="ctr" indent="0" marL="0">
              <a:lnSpc>
                <a:spcPts val="1200"/>
              </a:lnSpc>
              <a:buNone/>
            </a:pPr>
            <a:r>
              <a:rPr lang="en-US" sz="885" b="1" spc="1" kern="0" dirty="0">
                <a:solidFill>
                  <a:srgbClr val="FF5E00"/>
                </a:solidFill>
              </a:rPr>
              <a:t>Bilan et Perspectives d'Évolution</a:t>
            </a:r>
            <a:endParaRPr lang="en-US" sz="885" dirty="0"/>
          </a:p>
        </p:txBody>
      </p:sp>
      <p:sp>
        <p:nvSpPr>
          <p:cNvPr id="5" name="Shape 2"/>
          <p:cNvSpPr/>
          <p:nvPr/>
        </p:nvSpPr>
        <p:spPr>
          <a:xfrm>
            <a:off x="1357313" y="2058544"/>
            <a:ext cx="6429375" cy="2074366"/>
          </a:xfrm>
          <a:prstGeom prst="rect">
            <a:avLst/>
          </a:prstGeom>
          <a:solidFill>
            <a:srgbClr val="2962FF">
              <a:alpha val="5000"/>
            </a:srgbClr>
          </a:solidFill>
          <a:ln/>
        </p:spPr>
      </p:sp>
      <p:sp>
        <p:nvSpPr>
          <p:cNvPr id="6" name="Shape 3"/>
          <p:cNvSpPr/>
          <p:nvPr/>
        </p:nvSpPr>
        <p:spPr>
          <a:xfrm>
            <a:off x="1357313" y="2058544"/>
            <a:ext cx="28575" cy="2074366"/>
          </a:xfrm>
          <a:prstGeom prst="rect">
            <a:avLst/>
          </a:prstGeom>
          <a:solidFill>
            <a:srgbClr val="2962FF"/>
          </a:solidFill>
          <a:ln/>
        </p:spPr>
      </p:sp>
      <p:sp>
        <p:nvSpPr>
          <p:cNvPr id="7" name="Text 4"/>
          <p:cNvSpPr/>
          <p:nvPr/>
        </p:nvSpPr>
        <p:spPr>
          <a:xfrm>
            <a:off x="1357313" y="2058544"/>
            <a:ext cx="6429375" cy="2074366"/>
          </a:xfrm>
          <a:prstGeom prst="rect">
            <a:avLst/>
          </a:prstGeom>
          <a:noFill/>
          <a:ln/>
        </p:spPr>
        <p:txBody>
          <a:bodyPr wrap="square" lIns="255143" tIns="255143" rIns="255143" bIns="255143" rtlCol="0" anchor="t">
            <a:spAutoFit/>
          </a:bodyPr>
          <a:lstStyle/>
          <a:p>
            <a:pPr algn="just" indent="0" marL="0">
              <a:lnSpc>
                <a:spcPts val="1600"/>
              </a:lnSpc>
              <a:buNone/>
            </a:pPr>
            <a:r>
              <a:rPr lang="en-US" sz="834" dirty="0">
                <a:solidFill>
                  <a:srgbClr val="B0B0B0"/>
                </a:solidFill>
              </a:rPr>
              <a:t>Le projet FitTrack a réussi à implémenter une application mobile complexe, performante et maintenable grâce à Flutter et la Clean Architecture. Le système de gamification RPG a prouvé son potentiel pour transformer une tâche répétitive en une expérience gratifiante et engageante, avec un algorithme de progression exponentielle et des titres honorifiques qui renforcent la rétention utilisateur. Les perspectives futures incluent l'intégration de fonctionnalités sociales (défis entre amis), l'ajout de programmes d'entraînement générés par IA, et des améliorations UX continues. FitTrack démontre la puissance de Flutter pour les applications mobiles exigeantes en UI/UX et en performance temps réel, ouvrant la voie à des solutions innovantes dans le domaine du fitness numérique.</a:t>
            </a:r>
            <a:endParaRPr lang="en-US" sz="834" dirty="0"/>
          </a:p>
        </p:txBody>
      </p:sp>
      <p:sp>
        <p:nvSpPr>
          <p:cNvPr id="8" name="Text 5"/>
          <p:cNvSpPr/>
          <p:nvPr/>
        </p:nvSpPr>
        <p:spPr>
          <a:xfrm>
            <a:off x="1357313" y="4504386"/>
            <a:ext cx="6429375" cy="260021"/>
          </a:xfrm>
          <a:prstGeom prst="rect">
            <a:avLst/>
          </a:prstGeom>
          <a:noFill/>
          <a:ln/>
        </p:spPr>
        <p:txBody>
          <a:bodyPr wrap="none" lIns="0" tIns="0" rIns="0" bIns="0" rtlCol="0" anchor="t">
            <a:spAutoFit/>
          </a:bodyPr>
          <a:lstStyle/>
          <a:p>
            <a:pPr algn="ctr" indent="0" marL="0">
              <a:lnSpc>
                <a:spcPts val="2000"/>
              </a:lnSpc>
              <a:buNone/>
            </a:pPr>
            <a:r>
              <a:rPr lang="en-US" sz="1397" b="1" dirty="0">
                <a:solidFill>
                  <a:srgbClr val="FF5E00"/>
                </a:solidFill>
              </a:rPr>
              <a:t>Transformer l'engagement fitness en expérience de jeu</a:t>
            </a:r>
            <a:endParaRPr lang="en-US" sz="1397"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2025-12-17T19:55:06Z</dcterms:created>
  <dcterms:modified xsi:type="dcterms:W3CDTF">2025-12-17T19:55:06Z</dcterms:modified>
</cp:coreProperties>
</file>